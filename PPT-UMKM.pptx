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eague Spartan" charset="1" panose="00000800000000000000"/>
      <p:regular r:id="rId16"/>
    </p:embeddedFont>
    <p:embeddedFont>
      <p:font typeface="Poppins"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7619B"/>
        </a:solidFill>
      </p:bgPr>
    </p:bg>
    <p:spTree>
      <p:nvGrpSpPr>
        <p:cNvPr id="1" name=""/>
        <p:cNvGrpSpPr/>
        <p:nvPr/>
      </p:nvGrpSpPr>
      <p:grpSpPr>
        <a:xfrm>
          <a:off x="0" y="0"/>
          <a:ext cx="0" cy="0"/>
          <a:chOff x="0" y="0"/>
          <a:chExt cx="0" cy="0"/>
        </a:xfrm>
      </p:grpSpPr>
      <p:grpSp>
        <p:nvGrpSpPr>
          <p:cNvPr name="Group 2" id="2"/>
          <p:cNvGrpSpPr/>
          <p:nvPr/>
        </p:nvGrpSpPr>
        <p:grpSpPr>
          <a:xfrm rot="0">
            <a:off x="-1651907" y="-1983921"/>
            <a:ext cx="6882493" cy="688249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69"/>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818054" y="6044293"/>
            <a:ext cx="6882493" cy="688249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69"/>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870427" y="3679371"/>
            <a:ext cx="5740854" cy="57408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42975" cap="sq">
              <a:solidFill>
                <a:srgbClr val="004369"/>
              </a:solidFill>
              <a:prstDash val="solid"/>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01548" y="-1501548"/>
            <a:ext cx="5414282" cy="541428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42950" cap="sq">
              <a:solidFill>
                <a:srgbClr val="FFFFFF"/>
              </a:solidFill>
              <a:prstDash val="solid"/>
              <a:miter/>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4729052" y="7198179"/>
            <a:ext cx="5060496" cy="506049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14375" cap="sq">
              <a:solidFill>
                <a:srgbClr val="FFFFFF"/>
              </a:solidFill>
              <a:prstDash val="solid"/>
              <a:miter/>
            </a:ln>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5417573" y="1457325"/>
            <a:ext cx="5740854" cy="574085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42975" cap="sq">
              <a:solidFill>
                <a:srgbClr val="004369"/>
              </a:solidFill>
              <a:prstDash val="solid"/>
              <a:miter/>
            </a:ln>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3616289" y="2420366"/>
            <a:ext cx="12648268" cy="3426968"/>
          </a:xfrm>
          <a:prstGeom prst="rect">
            <a:avLst/>
          </a:prstGeom>
        </p:spPr>
        <p:txBody>
          <a:bodyPr anchor="t" rtlCol="false" tIns="0" lIns="0" bIns="0" rIns="0">
            <a:spAutoFit/>
          </a:bodyPr>
          <a:lstStyle/>
          <a:p>
            <a:pPr algn="ctr">
              <a:lnSpc>
                <a:spcPts val="6746"/>
              </a:lnSpc>
            </a:pPr>
            <a:r>
              <a:rPr lang="en-US" sz="5970">
                <a:solidFill>
                  <a:srgbClr val="FFFFFF"/>
                </a:solidFill>
                <a:latin typeface="League Spartan"/>
                <a:ea typeface="League Spartan"/>
                <a:cs typeface="League Spartan"/>
                <a:sym typeface="League Spartan"/>
              </a:rPr>
              <a:t>SEGMENTA</a:t>
            </a:r>
            <a:r>
              <a:rPr lang="en-US" sz="5970">
                <a:solidFill>
                  <a:srgbClr val="FFFFFF"/>
                </a:solidFill>
                <a:latin typeface="League Spartan"/>
                <a:ea typeface="League Spartan"/>
                <a:cs typeface="League Spartan"/>
                <a:sym typeface="League Spartan"/>
              </a:rPr>
              <a:t>SI STRATEGIS UMKM DI KABUPATEN SUMEDANG MENGGUNAKAN ALGORITMA K-MEANS CLUSTERING</a:t>
            </a:r>
          </a:p>
        </p:txBody>
      </p:sp>
      <p:sp>
        <p:nvSpPr>
          <p:cNvPr name="Freeform 21" id="21"/>
          <p:cNvSpPr/>
          <p:nvPr/>
        </p:nvSpPr>
        <p:spPr>
          <a:xfrm flipH="false" flipV="true" rot="0">
            <a:off x="14377680" y="0"/>
            <a:ext cx="3934056" cy="4114800"/>
          </a:xfrm>
          <a:custGeom>
            <a:avLst/>
            <a:gdLst/>
            <a:ahLst/>
            <a:cxnLst/>
            <a:rect r="r" b="b" t="t" l="l"/>
            <a:pathLst>
              <a:path h="4114800" w="3934056">
                <a:moveTo>
                  <a:pt x="0" y="4114800"/>
                </a:moveTo>
                <a:lnTo>
                  <a:pt x="3934056" y="4114800"/>
                </a:lnTo>
                <a:lnTo>
                  <a:pt x="3934056"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true" flipV="false" rot="0">
            <a:off x="-21322" y="6549798"/>
            <a:ext cx="3934056" cy="4114800"/>
          </a:xfrm>
          <a:custGeom>
            <a:avLst/>
            <a:gdLst/>
            <a:ahLst/>
            <a:cxnLst/>
            <a:rect r="r" b="b" t="t" l="l"/>
            <a:pathLst>
              <a:path h="4114800" w="3934056">
                <a:moveTo>
                  <a:pt x="3934056" y="0"/>
                </a:moveTo>
                <a:lnTo>
                  <a:pt x="0" y="0"/>
                </a:lnTo>
                <a:lnTo>
                  <a:pt x="0" y="4114800"/>
                </a:lnTo>
                <a:lnTo>
                  <a:pt x="3934056" y="4114800"/>
                </a:lnTo>
                <a:lnTo>
                  <a:pt x="39340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8778107" y="8503246"/>
            <a:ext cx="731786" cy="207904"/>
          </a:xfrm>
          <a:custGeom>
            <a:avLst/>
            <a:gdLst/>
            <a:ahLst/>
            <a:cxnLst/>
            <a:rect r="r" b="b" t="t" l="l"/>
            <a:pathLst>
              <a:path h="207904" w="731786">
                <a:moveTo>
                  <a:pt x="0" y="0"/>
                </a:moveTo>
                <a:lnTo>
                  <a:pt x="731786" y="0"/>
                </a:lnTo>
                <a:lnTo>
                  <a:pt x="731786" y="207904"/>
                </a:lnTo>
                <a:lnTo>
                  <a:pt x="0" y="2079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4" id="24"/>
          <p:cNvGrpSpPr/>
          <p:nvPr/>
        </p:nvGrpSpPr>
        <p:grpSpPr>
          <a:xfrm rot="0">
            <a:off x="8347577" y="8374194"/>
            <a:ext cx="1592846" cy="466009"/>
            <a:chOff x="0" y="0"/>
            <a:chExt cx="566262" cy="165668"/>
          </a:xfrm>
        </p:grpSpPr>
        <p:sp>
          <p:nvSpPr>
            <p:cNvPr name="Freeform 25" id="25"/>
            <p:cNvSpPr/>
            <p:nvPr/>
          </p:nvSpPr>
          <p:spPr>
            <a:xfrm flipH="false" flipV="false" rot="0">
              <a:off x="0" y="0"/>
              <a:ext cx="566262" cy="165668"/>
            </a:xfrm>
            <a:custGeom>
              <a:avLst/>
              <a:gdLst/>
              <a:ahLst/>
              <a:cxnLst/>
              <a:rect r="r" b="b" t="t" l="l"/>
              <a:pathLst>
                <a:path h="165668" w="566262">
                  <a:moveTo>
                    <a:pt x="82834" y="0"/>
                  </a:moveTo>
                  <a:lnTo>
                    <a:pt x="483428" y="0"/>
                  </a:lnTo>
                  <a:cubicBezTo>
                    <a:pt x="505397" y="0"/>
                    <a:pt x="526466" y="8727"/>
                    <a:pt x="542001" y="24261"/>
                  </a:cubicBezTo>
                  <a:cubicBezTo>
                    <a:pt x="557535" y="39796"/>
                    <a:pt x="566262" y="60865"/>
                    <a:pt x="566262" y="82834"/>
                  </a:cubicBezTo>
                  <a:lnTo>
                    <a:pt x="566262" y="82834"/>
                  </a:lnTo>
                  <a:cubicBezTo>
                    <a:pt x="566262" y="128582"/>
                    <a:pt x="529176" y="165668"/>
                    <a:pt x="483428" y="165668"/>
                  </a:cubicBezTo>
                  <a:lnTo>
                    <a:pt x="82834" y="165668"/>
                  </a:lnTo>
                  <a:cubicBezTo>
                    <a:pt x="37086" y="165668"/>
                    <a:pt x="0" y="128582"/>
                    <a:pt x="0" y="82834"/>
                  </a:cubicBezTo>
                  <a:lnTo>
                    <a:pt x="0" y="82834"/>
                  </a:lnTo>
                  <a:cubicBezTo>
                    <a:pt x="0" y="37086"/>
                    <a:pt x="37086" y="0"/>
                    <a:pt x="82834" y="0"/>
                  </a:cubicBezTo>
                  <a:close/>
                </a:path>
              </a:pathLst>
            </a:custGeom>
            <a:ln w="38100" cap="rnd">
              <a:solidFill>
                <a:srgbClr val="FFFFFF"/>
              </a:solidFill>
              <a:prstDash val="solid"/>
              <a:round/>
            </a:ln>
          </p:spPr>
        </p:sp>
        <p:sp>
          <p:nvSpPr>
            <p:cNvPr name="TextBox 26" id="26"/>
            <p:cNvSpPr txBox="true"/>
            <p:nvPr/>
          </p:nvSpPr>
          <p:spPr>
            <a:xfrm>
              <a:off x="0" y="-57150"/>
              <a:ext cx="566262" cy="222818"/>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124023" y="487569"/>
            <a:ext cx="1082261" cy="1082261"/>
            <a:chOff x="0" y="0"/>
            <a:chExt cx="1443015" cy="1443015"/>
          </a:xfrm>
        </p:grpSpPr>
        <p:grpSp>
          <p:nvGrpSpPr>
            <p:cNvPr name="Group 28" id="28"/>
            <p:cNvGrpSpPr/>
            <p:nvPr/>
          </p:nvGrpSpPr>
          <p:grpSpPr>
            <a:xfrm rot="0">
              <a:off x="102450" y="102450"/>
              <a:ext cx="1238114" cy="123811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0" id="3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0" y="0"/>
              <a:ext cx="1443015" cy="1443015"/>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p:spPr>
          </p:sp>
        </p:grpSp>
      </p:grpSp>
      <p:sp>
        <p:nvSpPr>
          <p:cNvPr name="TextBox 33" id="33"/>
          <p:cNvSpPr txBox="true"/>
          <p:nvPr/>
        </p:nvSpPr>
        <p:spPr>
          <a:xfrm rot="0">
            <a:off x="5243810" y="6023381"/>
            <a:ext cx="8574243" cy="1571625"/>
          </a:xfrm>
          <a:prstGeom prst="rect">
            <a:avLst/>
          </a:prstGeom>
        </p:spPr>
        <p:txBody>
          <a:bodyPr anchor="t" rtlCol="false" tIns="0" lIns="0" bIns="0" rIns="0">
            <a:spAutoFit/>
          </a:bodyPr>
          <a:lstStyle/>
          <a:p>
            <a:pPr algn="ctr">
              <a:lnSpc>
                <a:spcPts val="4199"/>
              </a:lnSpc>
            </a:pPr>
            <a:r>
              <a:rPr lang="en-US" sz="2999">
                <a:solidFill>
                  <a:srgbClr val="FFFFFF"/>
                </a:solidFill>
                <a:latin typeface="Poppins"/>
                <a:ea typeface="Poppins"/>
                <a:cs typeface="Poppins"/>
                <a:sym typeface="Poppins"/>
              </a:rPr>
              <a:t>Analisis Potensi Usaha</a:t>
            </a:r>
            <a:r>
              <a:rPr lang="en-US" sz="2999">
                <a:solidFill>
                  <a:srgbClr val="FFFFFF"/>
                </a:solidFill>
                <a:latin typeface="Poppins"/>
                <a:ea typeface="Poppins"/>
                <a:cs typeface="Poppins"/>
                <a:sym typeface="Poppins"/>
              </a:rPr>
              <a:t> dan Pemetaan Karakteristik untuk Rekomendasi Kebijakan yang Tepat Sasaran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7619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347357"/>
            <a:chOff x="0" y="0"/>
            <a:chExt cx="4816593" cy="881608"/>
          </a:xfrm>
        </p:grpSpPr>
        <p:sp>
          <p:nvSpPr>
            <p:cNvPr name="Freeform 3" id="3"/>
            <p:cNvSpPr/>
            <p:nvPr/>
          </p:nvSpPr>
          <p:spPr>
            <a:xfrm flipH="false" flipV="false" rot="0">
              <a:off x="0" y="0"/>
              <a:ext cx="4816592" cy="881608"/>
            </a:xfrm>
            <a:custGeom>
              <a:avLst/>
              <a:gdLst/>
              <a:ahLst/>
              <a:cxnLst/>
              <a:rect r="r" b="b" t="t" l="l"/>
              <a:pathLst>
                <a:path h="881608" w="4816592">
                  <a:moveTo>
                    <a:pt x="0" y="0"/>
                  </a:moveTo>
                  <a:lnTo>
                    <a:pt x="4816592" y="0"/>
                  </a:lnTo>
                  <a:lnTo>
                    <a:pt x="4816592" y="881608"/>
                  </a:lnTo>
                  <a:lnTo>
                    <a:pt x="0" y="881608"/>
                  </a:lnTo>
                  <a:close/>
                </a:path>
              </a:pathLst>
            </a:custGeom>
            <a:solidFill>
              <a:srgbClr val="FFFFFF"/>
            </a:solidFill>
          </p:spPr>
        </p:sp>
        <p:sp>
          <p:nvSpPr>
            <p:cNvPr name="TextBox 4" id="4"/>
            <p:cNvSpPr txBox="true"/>
            <p:nvPr/>
          </p:nvSpPr>
          <p:spPr>
            <a:xfrm>
              <a:off x="0" y="-57150"/>
              <a:ext cx="4816593" cy="938758"/>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386635" y="1711779"/>
            <a:ext cx="8042275" cy="1024255"/>
          </a:xfrm>
          <a:prstGeom prst="rect">
            <a:avLst/>
          </a:prstGeom>
        </p:spPr>
        <p:txBody>
          <a:bodyPr anchor="t" rtlCol="false" tIns="0" lIns="0" bIns="0" rIns="0">
            <a:spAutoFit/>
          </a:bodyPr>
          <a:lstStyle/>
          <a:p>
            <a:pPr algn="l">
              <a:lnSpc>
                <a:spcPts val="7909"/>
              </a:lnSpc>
            </a:pPr>
            <a:r>
              <a:rPr lang="en-US" sz="6999">
                <a:solidFill>
                  <a:srgbClr val="004369"/>
                </a:solidFill>
                <a:latin typeface="League Spartan"/>
                <a:ea typeface="League Spartan"/>
                <a:cs typeface="League Spartan"/>
                <a:sym typeface="League Spartan"/>
              </a:rPr>
              <a:t>DI SUSUN OLEH :</a:t>
            </a:r>
          </a:p>
        </p:txBody>
      </p:sp>
      <p:sp>
        <p:nvSpPr>
          <p:cNvPr name="TextBox 6" id="6"/>
          <p:cNvSpPr txBox="true"/>
          <p:nvPr/>
        </p:nvSpPr>
        <p:spPr>
          <a:xfrm rot="0">
            <a:off x="2402774" y="4403513"/>
            <a:ext cx="7181766" cy="901700"/>
          </a:xfrm>
          <a:prstGeom prst="rect">
            <a:avLst/>
          </a:prstGeom>
        </p:spPr>
        <p:txBody>
          <a:bodyPr anchor="t" rtlCol="false" tIns="0" lIns="0" bIns="0" rIns="0">
            <a:spAutoFit/>
          </a:bodyPr>
          <a:lstStyle/>
          <a:p>
            <a:pPr algn="l">
              <a:lnSpc>
                <a:spcPts val="7000"/>
              </a:lnSpc>
            </a:pPr>
            <a:r>
              <a:rPr lang="en-US" sz="5000">
                <a:solidFill>
                  <a:srgbClr val="FFFFFF"/>
                </a:solidFill>
                <a:latin typeface="Poppins"/>
                <a:ea typeface="Poppins"/>
                <a:cs typeface="Poppins"/>
                <a:sym typeface="Poppins"/>
              </a:rPr>
              <a:t>Ilfa Nabalah</a:t>
            </a:r>
          </a:p>
        </p:txBody>
      </p:sp>
      <p:sp>
        <p:nvSpPr>
          <p:cNvPr name="Freeform 7" id="7"/>
          <p:cNvSpPr/>
          <p:nvPr/>
        </p:nvSpPr>
        <p:spPr>
          <a:xfrm flipH="false" flipV="false" rot="0">
            <a:off x="14353944" y="6172200"/>
            <a:ext cx="3934056" cy="4114800"/>
          </a:xfrm>
          <a:custGeom>
            <a:avLst/>
            <a:gdLst/>
            <a:ahLst/>
            <a:cxnLst/>
            <a:rect r="r" b="b" t="t" l="l"/>
            <a:pathLst>
              <a:path h="4114800" w="3934056">
                <a:moveTo>
                  <a:pt x="0" y="0"/>
                </a:moveTo>
                <a:lnTo>
                  <a:pt x="3934056" y="0"/>
                </a:lnTo>
                <a:lnTo>
                  <a:pt x="393405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5071023" y="8906033"/>
            <a:ext cx="2761933" cy="276193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038052" y="7736645"/>
            <a:ext cx="2761933" cy="276193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4676391" y="5817379"/>
            <a:ext cx="7181766" cy="901700"/>
          </a:xfrm>
          <a:prstGeom prst="rect">
            <a:avLst/>
          </a:prstGeom>
        </p:spPr>
        <p:txBody>
          <a:bodyPr anchor="t" rtlCol="false" tIns="0" lIns="0" bIns="0" rIns="0">
            <a:spAutoFit/>
          </a:bodyPr>
          <a:lstStyle/>
          <a:p>
            <a:pPr algn="l">
              <a:lnSpc>
                <a:spcPts val="7000"/>
              </a:lnSpc>
            </a:pPr>
            <a:r>
              <a:rPr lang="en-US" sz="5000">
                <a:solidFill>
                  <a:srgbClr val="FFFFFF"/>
                </a:solidFill>
                <a:latin typeface="Poppins"/>
                <a:ea typeface="Poppins"/>
                <a:cs typeface="Poppins"/>
                <a:sym typeface="Poppins"/>
              </a:rPr>
              <a:t>Yudin Wahyudinnoor </a:t>
            </a:r>
          </a:p>
        </p:txBody>
      </p:sp>
      <p:sp>
        <p:nvSpPr>
          <p:cNvPr name="TextBox 15" id="15"/>
          <p:cNvSpPr txBox="true"/>
          <p:nvPr/>
        </p:nvSpPr>
        <p:spPr>
          <a:xfrm rot="0">
            <a:off x="5816889" y="7534275"/>
            <a:ext cx="11070664" cy="901700"/>
          </a:xfrm>
          <a:prstGeom prst="rect">
            <a:avLst/>
          </a:prstGeom>
        </p:spPr>
        <p:txBody>
          <a:bodyPr anchor="t" rtlCol="false" tIns="0" lIns="0" bIns="0" rIns="0">
            <a:spAutoFit/>
          </a:bodyPr>
          <a:lstStyle/>
          <a:p>
            <a:pPr algn="l">
              <a:lnSpc>
                <a:spcPts val="7000"/>
              </a:lnSpc>
            </a:pPr>
            <a:r>
              <a:rPr lang="en-US" sz="5000">
                <a:solidFill>
                  <a:srgbClr val="FFFFFF"/>
                </a:solidFill>
                <a:latin typeface="Poppins"/>
                <a:ea typeface="Poppins"/>
                <a:cs typeface="Poppins"/>
                <a:sym typeface="Poppins"/>
              </a:rPr>
              <a:t>Meisya Shafa Maulidia Herdiman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7619B"/>
        </a:solidFill>
      </p:bgPr>
    </p:bg>
    <p:spTree>
      <p:nvGrpSpPr>
        <p:cNvPr id="1" name=""/>
        <p:cNvGrpSpPr/>
        <p:nvPr/>
      </p:nvGrpSpPr>
      <p:grpSpPr>
        <a:xfrm>
          <a:off x="0" y="0"/>
          <a:ext cx="0" cy="0"/>
          <a:chOff x="0" y="0"/>
          <a:chExt cx="0" cy="0"/>
        </a:xfrm>
      </p:grpSpPr>
      <p:sp>
        <p:nvSpPr>
          <p:cNvPr name="TextBox 2" id="2"/>
          <p:cNvSpPr txBox="true"/>
          <p:nvPr/>
        </p:nvSpPr>
        <p:spPr>
          <a:xfrm rot="0">
            <a:off x="1028700" y="714533"/>
            <a:ext cx="13658217" cy="2024380"/>
          </a:xfrm>
          <a:prstGeom prst="rect">
            <a:avLst/>
          </a:prstGeom>
        </p:spPr>
        <p:txBody>
          <a:bodyPr anchor="t" rtlCol="false" tIns="0" lIns="0" bIns="0" rIns="0">
            <a:spAutoFit/>
          </a:bodyPr>
          <a:lstStyle/>
          <a:p>
            <a:pPr algn="l">
              <a:lnSpc>
                <a:spcPts val="7909"/>
              </a:lnSpc>
            </a:pPr>
            <a:r>
              <a:rPr lang="en-US" sz="6999">
                <a:solidFill>
                  <a:srgbClr val="FFFFFF"/>
                </a:solidFill>
                <a:latin typeface="League Spartan"/>
                <a:ea typeface="League Spartan"/>
                <a:cs typeface="League Spartan"/>
                <a:sym typeface="League Spartan"/>
              </a:rPr>
              <a:t>LATA</a:t>
            </a:r>
            <a:r>
              <a:rPr lang="en-US" sz="6999">
                <a:solidFill>
                  <a:srgbClr val="FFFFFF"/>
                </a:solidFill>
                <a:latin typeface="League Spartan"/>
                <a:ea typeface="League Spartan"/>
                <a:cs typeface="League Spartan"/>
                <a:sym typeface="League Spartan"/>
              </a:rPr>
              <a:t>R BELAKANG DAN MASALAH</a:t>
            </a:r>
          </a:p>
        </p:txBody>
      </p:sp>
      <p:sp>
        <p:nvSpPr>
          <p:cNvPr name="Freeform 3" id="3"/>
          <p:cNvSpPr/>
          <p:nvPr/>
        </p:nvSpPr>
        <p:spPr>
          <a:xfrm flipH="false" flipV="true" rot="0">
            <a:off x="14377680" y="0"/>
            <a:ext cx="3934056" cy="4114800"/>
          </a:xfrm>
          <a:custGeom>
            <a:avLst/>
            <a:gdLst/>
            <a:ahLst/>
            <a:cxnLst/>
            <a:rect r="r" b="b" t="t" l="l"/>
            <a:pathLst>
              <a:path h="4114800" w="3934056">
                <a:moveTo>
                  <a:pt x="0" y="4114800"/>
                </a:moveTo>
                <a:lnTo>
                  <a:pt x="3934056" y="4114800"/>
                </a:lnTo>
                <a:lnTo>
                  <a:pt x="3934056"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4963741" y="-1380967"/>
            <a:ext cx="2761933" cy="276193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name="TextBox 6" id="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6907033" y="-704533"/>
            <a:ext cx="2761933" cy="276193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3058589"/>
            <a:ext cx="16848710" cy="5935345"/>
          </a:xfrm>
          <a:prstGeom prst="rect">
            <a:avLst/>
          </a:prstGeom>
        </p:spPr>
        <p:txBody>
          <a:bodyPr anchor="t" rtlCol="false" tIns="0" lIns="0" bIns="0" rIns="0">
            <a:spAutoFit/>
          </a:bodyPr>
          <a:lstStyle/>
          <a:p>
            <a:pPr algn="l">
              <a:lnSpc>
                <a:spcPts val="5179"/>
              </a:lnSpc>
            </a:pPr>
            <a:r>
              <a:rPr lang="en-US" sz="3699">
                <a:solidFill>
                  <a:srgbClr val="FFFFFF"/>
                </a:solidFill>
                <a:latin typeface="Poppins"/>
                <a:ea typeface="Poppins"/>
                <a:cs typeface="Poppins"/>
                <a:sym typeface="Poppins"/>
              </a:rPr>
              <a:t>UMKM adalah tulang punggung ekonomi nasional yang menyumbang 61% PDB dan menyerap 97% tenaga kerja. Di Kabupaten Sumedang, sektor ini memiliki keragaman yang sangat tinggi, namun tantangan utamanya adalah kebijakan pembinaan yang seringkali bersifat umum (one-size-fits-all). Kurangnya pemetaan yang spesifik membuat bantuan pemerintah terkadang tidak relevan dengan kebutuhan nyata di</a:t>
            </a:r>
            <a:r>
              <a:rPr lang="en-US" sz="3699">
                <a:solidFill>
                  <a:srgbClr val="FFFFFF"/>
                </a:solidFill>
                <a:latin typeface="Poppins"/>
                <a:ea typeface="Poppins"/>
                <a:cs typeface="Poppins"/>
                <a:sym typeface="Poppins"/>
              </a:rPr>
              <a:t> lapangan. Penelitian ini hadir untuk mentransformasi data menjadi segmentasi cerdas agar setiap pelaku usaha mendapatkan dukungan yang sesuai dengan skala bisnisnya.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7619B"/>
        </a:solidFill>
      </p:bgPr>
    </p:bg>
    <p:spTree>
      <p:nvGrpSpPr>
        <p:cNvPr id="1" name=""/>
        <p:cNvGrpSpPr/>
        <p:nvPr/>
      </p:nvGrpSpPr>
      <p:grpSpPr>
        <a:xfrm>
          <a:off x="0" y="0"/>
          <a:ext cx="0" cy="0"/>
          <a:chOff x="0" y="0"/>
          <a:chExt cx="0" cy="0"/>
        </a:xfrm>
      </p:grpSpPr>
      <p:sp>
        <p:nvSpPr>
          <p:cNvPr name="Freeform 2" id="2"/>
          <p:cNvSpPr/>
          <p:nvPr/>
        </p:nvSpPr>
        <p:spPr>
          <a:xfrm flipH="true" flipV="true" rot="0">
            <a:off x="0" y="0"/>
            <a:ext cx="3934056" cy="4114800"/>
          </a:xfrm>
          <a:custGeom>
            <a:avLst/>
            <a:gdLst/>
            <a:ahLst/>
            <a:cxnLst/>
            <a:rect r="r" b="b" t="t" l="l"/>
            <a:pathLst>
              <a:path h="4114800" w="3934056">
                <a:moveTo>
                  <a:pt x="3934056" y="4114800"/>
                </a:moveTo>
                <a:lnTo>
                  <a:pt x="0" y="4114800"/>
                </a:lnTo>
                <a:lnTo>
                  <a:pt x="0" y="0"/>
                </a:lnTo>
                <a:lnTo>
                  <a:pt x="3934056" y="0"/>
                </a:lnTo>
                <a:lnTo>
                  <a:pt x="3934056"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206" y="8700453"/>
            <a:ext cx="2761933" cy="276193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9485546"/>
            <a:ext cx="2534687" cy="253468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28700" y="697594"/>
            <a:ext cx="16230600" cy="2309495"/>
          </a:xfrm>
          <a:prstGeom prst="rect">
            <a:avLst/>
          </a:prstGeom>
        </p:spPr>
        <p:txBody>
          <a:bodyPr anchor="t" rtlCol="false" tIns="0" lIns="0" bIns="0" rIns="0">
            <a:spAutoFit/>
          </a:bodyPr>
          <a:lstStyle/>
          <a:p>
            <a:pPr algn="l">
              <a:lnSpc>
                <a:spcPts val="9040"/>
              </a:lnSpc>
            </a:pPr>
            <a:r>
              <a:rPr lang="en-US" sz="8000">
                <a:solidFill>
                  <a:srgbClr val="FFFFFF"/>
                </a:solidFill>
                <a:latin typeface="League Spartan"/>
                <a:ea typeface="League Spartan"/>
                <a:cs typeface="League Spartan"/>
                <a:sym typeface="League Spartan"/>
              </a:rPr>
              <a:t>LANDASAN TEORI</a:t>
            </a:r>
          </a:p>
          <a:p>
            <a:pPr algn="l">
              <a:lnSpc>
                <a:spcPts val="9040"/>
              </a:lnSpc>
            </a:pPr>
            <a:r>
              <a:rPr lang="en-US" sz="8000">
                <a:solidFill>
                  <a:srgbClr val="FFFFFF"/>
                </a:solidFill>
                <a:latin typeface="League Spartan"/>
                <a:ea typeface="League Spartan"/>
                <a:cs typeface="League Spartan"/>
                <a:sym typeface="League Spartan"/>
              </a:rPr>
              <a:t>DA</a:t>
            </a:r>
            <a:r>
              <a:rPr lang="en-US" sz="8000">
                <a:solidFill>
                  <a:srgbClr val="FFFFFF"/>
                </a:solidFill>
                <a:latin typeface="League Spartan"/>
                <a:ea typeface="League Spartan"/>
                <a:cs typeface="League Spartan"/>
                <a:sym typeface="League Spartan"/>
              </a:rPr>
              <a:t>TA MINING &amp; K-MEANS</a:t>
            </a:r>
          </a:p>
        </p:txBody>
      </p:sp>
      <p:sp>
        <p:nvSpPr>
          <p:cNvPr name="TextBox 10" id="10"/>
          <p:cNvSpPr txBox="true"/>
          <p:nvPr/>
        </p:nvSpPr>
        <p:spPr>
          <a:xfrm rot="0">
            <a:off x="1801727" y="3221495"/>
            <a:ext cx="15754032" cy="5935345"/>
          </a:xfrm>
          <a:prstGeom prst="rect">
            <a:avLst/>
          </a:prstGeom>
        </p:spPr>
        <p:txBody>
          <a:bodyPr anchor="t" rtlCol="false" tIns="0" lIns="0" bIns="0" rIns="0">
            <a:spAutoFit/>
          </a:bodyPr>
          <a:lstStyle/>
          <a:p>
            <a:pPr algn="l">
              <a:lnSpc>
                <a:spcPts val="5179"/>
              </a:lnSpc>
            </a:pPr>
            <a:r>
              <a:rPr lang="en-US" sz="3699">
                <a:solidFill>
                  <a:srgbClr val="FFFFFF"/>
                </a:solidFill>
                <a:latin typeface="Poppins"/>
                <a:ea typeface="Poppins"/>
                <a:cs typeface="Poppins"/>
                <a:sym typeface="Poppins"/>
              </a:rPr>
              <a:t>Penelitian ini menerapkan konsep dasar Data Mining untuk mengungkap pola tersembunyi dari data UMKM. Kami menggunakan algoritma K-Means Clustering, sebuah metode partisi yang mengelompokkan data berdasarkan kemiripan atributnya. Untuk memastikan akurasi, kami melakukan tahap Standardization menggunakan z-score agar fitur dengan angka besar seperti 'Total Aset' tidak mendominasi fitur 'Jumlah Pegawai' dalam</a:t>
            </a:r>
            <a:r>
              <a:rPr lang="en-US" sz="3699">
                <a:solidFill>
                  <a:srgbClr val="FFFFFF"/>
                </a:solidFill>
                <a:latin typeface="Poppins"/>
                <a:ea typeface="Poppins"/>
                <a:cs typeface="Poppins"/>
                <a:sym typeface="Poppins"/>
              </a:rPr>
              <a:t> perhitungan jarak Euclidean. Metodologi ini merujuk pada prinsip fundamental dari Zaki &amp; Meira (2014)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37619B"/>
        </a:solidFill>
      </p:bgPr>
    </p:bg>
    <p:spTree>
      <p:nvGrpSpPr>
        <p:cNvPr id="1" name=""/>
        <p:cNvGrpSpPr/>
        <p:nvPr/>
      </p:nvGrpSpPr>
      <p:grpSpPr>
        <a:xfrm>
          <a:off x="0" y="0"/>
          <a:ext cx="0" cy="0"/>
          <a:chOff x="0" y="0"/>
          <a:chExt cx="0" cy="0"/>
        </a:xfrm>
      </p:grpSpPr>
      <p:sp>
        <p:nvSpPr>
          <p:cNvPr name="TextBox 2" id="2"/>
          <p:cNvSpPr txBox="true"/>
          <p:nvPr/>
        </p:nvSpPr>
        <p:spPr>
          <a:xfrm rot="0">
            <a:off x="2822466" y="1041725"/>
            <a:ext cx="13023951" cy="872490"/>
          </a:xfrm>
          <a:prstGeom prst="rect">
            <a:avLst/>
          </a:prstGeom>
        </p:spPr>
        <p:txBody>
          <a:bodyPr anchor="t" rtlCol="false" tIns="0" lIns="0" bIns="0" rIns="0">
            <a:spAutoFit/>
          </a:bodyPr>
          <a:lstStyle/>
          <a:p>
            <a:pPr algn="l">
              <a:lnSpc>
                <a:spcPts val="6780"/>
              </a:lnSpc>
            </a:pPr>
            <a:r>
              <a:rPr lang="en-US" sz="6000">
                <a:solidFill>
                  <a:srgbClr val="FFFFFF"/>
                </a:solidFill>
                <a:latin typeface="League Spartan"/>
                <a:ea typeface="League Spartan"/>
                <a:cs typeface="League Spartan"/>
                <a:sym typeface="League Spartan"/>
              </a:rPr>
              <a:t>DATASET &amp; VARIABEL AN</a:t>
            </a:r>
            <a:r>
              <a:rPr lang="en-US" sz="6000">
                <a:solidFill>
                  <a:srgbClr val="FFFFFF"/>
                </a:solidFill>
                <a:latin typeface="League Spartan"/>
                <a:ea typeface="League Spartan"/>
                <a:cs typeface="League Spartan"/>
                <a:sym typeface="League Spartan"/>
              </a:rPr>
              <a:t>ALISIS</a:t>
            </a:r>
          </a:p>
        </p:txBody>
      </p:sp>
      <p:grpSp>
        <p:nvGrpSpPr>
          <p:cNvPr name="Group 3" id="3"/>
          <p:cNvGrpSpPr/>
          <p:nvPr/>
        </p:nvGrpSpPr>
        <p:grpSpPr>
          <a:xfrm rot="0">
            <a:off x="-1305354" y="-1279763"/>
            <a:ext cx="3227168" cy="3193978"/>
            <a:chOff x="0" y="0"/>
            <a:chExt cx="812800" cy="804441"/>
          </a:xfrm>
        </p:grpSpPr>
        <p:sp>
          <p:nvSpPr>
            <p:cNvPr name="Freeform 4" id="4"/>
            <p:cNvSpPr/>
            <p:nvPr/>
          </p:nvSpPr>
          <p:spPr>
            <a:xfrm flipH="false" flipV="false" rot="0">
              <a:off x="0" y="0"/>
              <a:ext cx="812800" cy="804441"/>
            </a:xfrm>
            <a:custGeom>
              <a:avLst/>
              <a:gdLst/>
              <a:ahLst/>
              <a:cxnLst/>
              <a:rect r="r" b="b" t="t" l="l"/>
              <a:pathLst>
                <a:path h="804441" w="812800">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name="TextBox 5" id="5"/>
            <p:cNvSpPr txBox="true"/>
            <p:nvPr/>
          </p:nvSpPr>
          <p:spPr>
            <a:xfrm>
              <a:off x="76200" y="18266"/>
              <a:ext cx="660400" cy="7107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549471" y="2261879"/>
            <a:ext cx="14817717" cy="8064500"/>
          </a:xfrm>
          <a:prstGeom prst="rect">
            <a:avLst/>
          </a:prstGeom>
        </p:spPr>
        <p:txBody>
          <a:bodyPr anchor="t" rtlCol="false" tIns="0" lIns="0" bIns="0" rIns="0">
            <a:spAutoFit/>
          </a:bodyPr>
          <a:lstStyle/>
          <a:p>
            <a:pPr algn="l">
              <a:lnSpc>
                <a:spcPts val="4900"/>
              </a:lnSpc>
            </a:pPr>
            <a:r>
              <a:rPr lang="en-US" sz="3500">
                <a:solidFill>
                  <a:srgbClr val="FFFFFF"/>
                </a:solidFill>
                <a:latin typeface="Poppins"/>
                <a:ea typeface="Poppins"/>
                <a:cs typeface="Poppins"/>
                <a:sym typeface="Poppins"/>
              </a:rPr>
              <a:t>Analisis dilakukan terhadap dataset yang mencakup 60 unit UMKM di wilayah Kabupaten Sumedang. Kami mengevaluasi pot</a:t>
            </a:r>
            <a:r>
              <a:rPr lang="en-US" sz="3500">
                <a:solidFill>
                  <a:srgbClr val="FFFFFF"/>
                </a:solidFill>
                <a:latin typeface="Poppins"/>
                <a:ea typeface="Poppins"/>
                <a:cs typeface="Poppins"/>
                <a:sym typeface="Poppins"/>
              </a:rPr>
              <a:t>ensi setiap unit usaha berdasarkan lima parameter numerik utama:</a:t>
            </a:r>
          </a:p>
          <a:p>
            <a:pPr algn="l" marL="755651" indent="-377825" lvl="1">
              <a:lnSpc>
                <a:spcPts val="4900"/>
              </a:lnSpc>
              <a:buFont typeface="Arial"/>
              <a:buChar char="•"/>
            </a:pPr>
            <a:r>
              <a:rPr lang="en-US" sz="3500">
                <a:solidFill>
                  <a:srgbClr val="FFFFFF"/>
                </a:solidFill>
                <a:latin typeface="Poppins"/>
                <a:ea typeface="Poppins"/>
                <a:cs typeface="Poppins"/>
                <a:sym typeface="Poppins"/>
              </a:rPr>
              <a:t>Omzet Bulanan: Mengukur arus kas dan performa finansial.</a:t>
            </a:r>
          </a:p>
          <a:p>
            <a:pPr algn="l" marL="755651" indent="-377825" lvl="1">
              <a:lnSpc>
                <a:spcPts val="4900"/>
              </a:lnSpc>
              <a:buFont typeface="Arial"/>
              <a:buChar char="•"/>
            </a:pPr>
            <a:r>
              <a:rPr lang="en-US" sz="3500">
                <a:solidFill>
                  <a:srgbClr val="FFFFFF"/>
                </a:solidFill>
                <a:latin typeface="Poppins"/>
                <a:ea typeface="Poppins"/>
                <a:cs typeface="Poppins"/>
                <a:sym typeface="Poppins"/>
              </a:rPr>
              <a:t>Jumlah Pegawai: Mengukur skala penyerapan tenaga kerja lokal.</a:t>
            </a:r>
          </a:p>
          <a:p>
            <a:pPr algn="l" marL="755651" indent="-377825" lvl="1">
              <a:lnSpc>
                <a:spcPts val="4900"/>
              </a:lnSpc>
              <a:buFont typeface="Arial"/>
              <a:buChar char="•"/>
            </a:pPr>
            <a:r>
              <a:rPr lang="en-US" sz="3500">
                <a:solidFill>
                  <a:srgbClr val="FFFFFF"/>
                </a:solidFill>
                <a:latin typeface="Poppins"/>
                <a:ea typeface="Poppins"/>
                <a:cs typeface="Poppins"/>
                <a:sym typeface="Poppins"/>
              </a:rPr>
              <a:t>Lama Usaha: Mengukur stabilitas dan pengalaman operasional.</a:t>
            </a:r>
          </a:p>
          <a:p>
            <a:pPr algn="l" marL="755651" indent="-377825" lvl="1">
              <a:lnSpc>
                <a:spcPts val="4900"/>
              </a:lnSpc>
              <a:buFont typeface="Arial"/>
              <a:buChar char="•"/>
            </a:pPr>
            <a:r>
              <a:rPr lang="en-US" sz="3500">
                <a:solidFill>
                  <a:srgbClr val="FFFFFF"/>
                </a:solidFill>
                <a:latin typeface="Poppins"/>
                <a:ea typeface="Poppins"/>
                <a:cs typeface="Poppins"/>
                <a:sym typeface="Poppins"/>
              </a:rPr>
              <a:t>Total Aset: Mengukur kekayaan modal fisik usaha.</a:t>
            </a:r>
          </a:p>
          <a:p>
            <a:pPr algn="l" marL="755651" indent="-377825" lvl="1">
              <a:lnSpc>
                <a:spcPts val="4900"/>
              </a:lnSpc>
              <a:buFont typeface="Arial"/>
              <a:buChar char="•"/>
            </a:pPr>
            <a:r>
              <a:rPr lang="en-US" sz="3500">
                <a:solidFill>
                  <a:srgbClr val="FFFFFF"/>
                </a:solidFill>
                <a:latin typeface="Poppins"/>
                <a:ea typeface="Poppins"/>
                <a:cs typeface="Poppins"/>
                <a:sym typeface="Poppins"/>
              </a:rPr>
              <a:t>Pinjaman Modal: Mengukur aksesibilitas terhadap dukungan finansial.</a:t>
            </a:r>
          </a:p>
          <a:p>
            <a:pPr algn="l">
              <a:lnSpc>
                <a:spcPts val="490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7619B"/>
        </a:solidFill>
      </p:bgPr>
    </p:bg>
    <p:spTree>
      <p:nvGrpSpPr>
        <p:cNvPr id="1" name=""/>
        <p:cNvGrpSpPr/>
        <p:nvPr/>
      </p:nvGrpSpPr>
      <p:grpSpPr>
        <a:xfrm>
          <a:off x="0" y="0"/>
          <a:ext cx="0" cy="0"/>
          <a:chOff x="0" y="0"/>
          <a:chExt cx="0" cy="0"/>
        </a:xfrm>
      </p:grpSpPr>
      <p:grpSp>
        <p:nvGrpSpPr>
          <p:cNvPr name="Group 2" id="2"/>
          <p:cNvGrpSpPr/>
          <p:nvPr/>
        </p:nvGrpSpPr>
        <p:grpSpPr>
          <a:xfrm rot="-2491699">
            <a:off x="17103057" y="-618921"/>
            <a:ext cx="3329485" cy="3295242"/>
            <a:chOff x="0" y="0"/>
            <a:chExt cx="812800" cy="804441"/>
          </a:xfrm>
        </p:grpSpPr>
        <p:sp>
          <p:nvSpPr>
            <p:cNvPr name="Freeform 3" id="3"/>
            <p:cNvSpPr/>
            <p:nvPr/>
          </p:nvSpPr>
          <p:spPr>
            <a:xfrm flipH="false" flipV="false" rot="0">
              <a:off x="0" y="0"/>
              <a:ext cx="812800" cy="804441"/>
            </a:xfrm>
            <a:custGeom>
              <a:avLst/>
              <a:gdLst/>
              <a:ahLst/>
              <a:cxnLst/>
              <a:rect r="r" b="b" t="t" l="l"/>
              <a:pathLst>
                <a:path h="804441" w="812800">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name="TextBox 4" id="4"/>
            <p:cNvSpPr txBox="true"/>
            <p:nvPr/>
          </p:nvSpPr>
          <p:spPr>
            <a:xfrm>
              <a:off x="76200" y="18266"/>
              <a:ext cx="660400" cy="71075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639746" y="1807240"/>
            <a:ext cx="8705477" cy="4151252"/>
          </a:xfrm>
          <a:custGeom>
            <a:avLst/>
            <a:gdLst/>
            <a:ahLst/>
            <a:cxnLst/>
            <a:rect r="r" b="b" t="t" l="l"/>
            <a:pathLst>
              <a:path h="4151252" w="8705477">
                <a:moveTo>
                  <a:pt x="0" y="0"/>
                </a:moveTo>
                <a:lnTo>
                  <a:pt x="8705477" y="0"/>
                </a:lnTo>
                <a:lnTo>
                  <a:pt x="8705477" y="4151252"/>
                </a:lnTo>
                <a:lnTo>
                  <a:pt x="0" y="4151252"/>
                </a:lnTo>
                <a:lnTo>
                  <a:pt x="0" y="0"/>
                </a:lnTo>
                <a:close/>
              </a:path>
            </a:pathLst>
          </a:custGeom>
          <a:blipFill>
            <a:blip r:embed="rId2"/>
            <a:stretch>
              <a:fillRect l="0" t="0" r="0" b="0"/>
            </a:stretch>
          </a:blipFill>
        </p:spPr>
      </p:sp>
      <p:sp>
        <p:nvSpPr>
          <p:cNvPr name="TextBox 6" id="6"/>
          <p:cNvSpPr txBox="true"/>
          <p:nvPr/>
        </p:nvSpPr>
        <p:spPr>
          <a:xfrm rot="0">
            <a:off x="1590483" y="677862"/>
            <a:ext cx="15107034" cy="730250"/>
          </a:xfrm>
          <a:prstGeom prst="rect">
            <a:avLst/>
          </a:prstGeom>
        </p:spPr>
        <p:txBody>
          <a:bodyPr anchor="t" rtlCol="false" tIns="0" lIns="0" bIns="0" rIns="0">
            <a:spAutoFit/>
          </a:bodyPr>
          <a:lstStyle/>
          <a:p>
            <a:pPr algn="l">
              <a:lnSpc>
                <a:spcPts val="5650"/>
              </a:lnSpc>
            </a:pPr>
            <a:r>
              <a:rPr lang="en-US" sz="5000">
                <a:solidFill>
                  <a:srgbClr val="FFFFFF"/>
                </a:solidFill>
                <a:latin typeface="League Spartan"/>
                <a:ea typeface="League Spartan"/>
                <a:cs typeface="League Spartan"/>
                <a:sym typeface="League Spartan"/>
              </a:rPr>
              <a:t>EVALUASI MODEL: MENENTUKAN K-OPTI</a:t>
            </a:r>
            <a:r>
              <a:rPr lang="en-US" sz="5000">
                <a:solidFill>
                  <a:srgbClr val="FFFFFF"/>
                </a:solidFill>
                <a:latin typeface="League Spartan"/>
                <a:ea typeface="League Spartan"/>
                <a:cs typeface="League Spartan"/>
                <a:sym typeface="League Spartan"/>
              </a:rPr>
              <a:t>MAL</a:t>
            </a:r>
          </a:p>
        </p:txBody>
      </p:sp>
      <p:sp>
        <p:nvSpPr>
          <p:cNvPr name="TextBox 7" id="7"/>
          <p:cNvSpPr txBox="true"/>
          <p:nvPr/>
        </p:nvSpPr>
        <p:spPr>
          <a:xfrm rot="0">
            <a:off x="1028700" y="6271895"/>
            <a:ext cx="16385767" cy="2986405"/>
          </a:xfrm>
          <a:prstGeom prst="rect">
            <a:avLst/>
          </a:prstGeom>
        </p:spPr>
        <p:txBody>
          <a:bodyPr anchor="t" rtlCol="false" tIns="0" lIns="0" bIns="0" rIns="0">
            <a:spAutoFit/>
          </a:bodyPr>
          <a:lstStyle/>
          <a:p>
            <a:pPr algn="l">
              <a:lnSpc>
                <a:spcPts val="3919"/>
              </a:lnSpc>
            </a:pPr>
            <a:r>
              <a:rPr lang="en-US" sz="2799">
                <a:solidFill>
                  <a:srgbClr val="FFFFFF"/>
                </a:solidFill>
                <a:latin typeface="Poppins"/>
                <a:ea typeface="Poppins"/>
                <a:cs typeface="Poppins"/>
                <a:sym typeface="Poppins"/>
              </a:rPr>
              <a:t>Dalam menentukan jumlah kelompok yang paling ideal, kami melakukan pengujian teknis menggunakan Elbow Method dan Silhouette Score. Berdasarkan hasil eksperimen, nilai K=4 dipilih sebagai titik optimal. Pada titik ini, kita mendapatkan</a:t>
            </a:r>
            <a:r>
              <a:rPr lang="en-US" sz="2799">
                <a:solidFill>
                  <a:srgbClr val="FFFFFF"/>
                </a:solidFill>
                <a:latin typeface="Poppins"/>
                <a:ea typeface="Poppins"/>
                <a:cs typeface="Poppins"/>
                <a:sym typeface="Poppins"/>
              </a:rPr>
              <a:t> keseimbangan terbaik antara struktur kelompok yang solid dan interpretasi bisnis yang bermakna. Skor akhir Silhouette menunjukkan angka 0.4795, yang membuktikan bahwa setiap data telah terkelompokkan ke dalam klaster yang tepat dengan batas yang cukup jelas.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7619B"/>
        </a:solidFill>
      </p:bgPr>
    </p:bg>
    <p:spTree>
      <p:nvGrpSpPr>
        <p:cNvPr id="1" name=""/>
        <p:cNvGrpSpPr/>
        <p:nvPr/>
      </p:nvGrpSpPr>
      <p:grpSpPr>
        <a:xfrm>
          <a:off x="0" y="0"/>
          <a:ext cx="0" cy="0"/>
          <a:chOff x="0" y="0"/>
          <a:chExt cx="0" cy="0"/>
        </a:xfrm>
      </p:grpSpPr>
      <p:grpSp>
        <p:nvGrpSpPr>
          <p:cNvPr name="Group 2" id="2"/>
          <p:cNvGrpSpPr/>
          <p:nvPr/>
        </p:nvGrpSpPr>
        <p:grpSpPr>
          <a:xfrm rot="-2491699">
            <a:off x="-2038402" y="1158715"/>
            <a:ext cx="3329485" cy="3295242"/>
            <a:chOff x="0" y="0"/>
            <a:chExt cx="812800" cy="804441"/>
          </a:xfrm>
        </p:grpSpPr>
        <p:sp>
          <p:nvSpPr>
            <p:cNvPr name="Freeform 3" id="3"/>
            <p:cNvSpPr/>
            <p:nvPr/>
          </p:nvSpPr>
          <p:spPr>
            <a:xfrm flipH="false" flipV="false" rot="0">
              <a:off x="0" y="0"/>
              <a:ext cx="812800" cy="804441"/>
            </a:xfrm>
            <a:custGeom>
              <a:avLst/>
              <a:gdLst/>
              <a:ahLst/>
              <a:cxnLst/>
              <a:rect r="r" b="b" t="t" l="l"/>
              <a:pathLst>
                <a:path h="804441" w="812800">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name="TextBox 4" id="4"/>
            <p:cNvSpPr txBox="true"/>
            <p:nvPr/>
          </p:nvSpPr>
          <p:spPr>
            <a:xfrm>
              <a:off x="76200" y="18266"/>
              <a:ext cx="660400" cy="71075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461035" y="1609487"/>
            <a:ext cx="9365931" cy="4545836"/>
          </a:xfrm>
          <a:custGeom>
            <a:avLst/>
            <a:gdLst/>
            <a:ahLst/>
            <a:cxnLst/>
            <a:rect r="r" b="b" t="t" l="l"/>
            <a:pathLst>
              <a:path h="4545836" w="9365931">
                <a:moveTo>
                  <a:pt x="0" y="0"/>
                </a:moveTo>
                <a:lnTo>
                  <a:pt x="9365930" y="0"/>
                </a:lnTo>
                <a:lnTo>
                  <a:pt x="9365930" y="4545836"/>
                </a:lnTo>
                <a:lnTo>
                  <a:pt x="0" y="4545836"/>
                </a:lnTo>
                <a:lnTo>
                  <a:pt x="0" y="0"/>
                </a:lnTo>
                <a:close/>
              </a:path>
            </a:pathLst>
          </a:custGeom>
          <a:blipFill>
            <a:blip r:embed="rId2"/>
            <a:stretch>
              <a:fillRect l="0" t="0" r="0" b="0"/>
            </a:stretch>
          </a:blipFill>
        </p:spPr>
      </p:sp>
      <p:sp>
        <p:nvSpPr>
          <p:cNvPr name="TextBox 6" id="6"/>
          <p:cNvSpPr txBox="true"/>
          <p:nvPr/>
        </p:nvSpPr>
        <p:spPr>
          <a:xfrm rot="0">
            <a:off x="2307433" y="676940"/>
            <a:ext cx="15107034" cy="730250"/>
          </a:xfrm>
          <a:prstGeom prst="rect">
            <a:avLst/>
          </a:prstGeom>
        </p:spPr>
        <p:txBody>
          <a:bodyPr anchor="t" rtlCol="false" tIns="0" lIns="0" bIns="0" rIns="0">
            <a:spAutoFit/>
          </a:bodyPr>
          <a:lstStyle/>
          <a:p>
            <a:pPr algn="l">
              <a:lnSpc>
                <a:spcPts val="5650"/>
              </a:lnSpc>
            </a:pPr>
            <a:r>
              <a:rPr lang="en-US" sz="5000">
                <a:solidFill>
                  <a:srgbClr val="FFFFFF"/>
                </a:solidFill>
                <a:latin typeface="League Spartan"/>
                <a:ea typeface="League Spartan"/>
                <a:cs typeface="League Spartan"/>
                <a:sym typeface="League Spartan"/>
              </a:rPr>
              <a:t>VISUALISASI SEBARAN K</a:t>
            </a:r>
            <a:r>
              <a:rPr lang="en-US" sz="5000">
                <a:solidFill>
                  <a:srgbClr val="FFFFFF"/>
                </a:solidFill>
                <a:latin typeface="League Spartan"/>
                <a:ea typeface="League Spartan"/>
                <a:cs typeface="League Spartan"/>
                <a:sym typeface="League Spartan"/>
              </a:rPr>
              <a:t>LASTER (PCA)</a:t>
            </a:r>
          </a:p>
        </p:txBody>
      </p:sp>
      <p:sp>
        <p:nvSpPr>
          <p:cNvPr name="TextBox 7" id="7"/>
          <p:cNvSpPr txBox="true"/>
          <p:nvPr/>
        </p:nvSpPr>
        <p:spPr>
          <a:xfrm rot="0">
            <a:off x="1028700" y="6271895"/>
            <a:ext cx="16385767" cy="2986405"/>
          </a:xfrm>
          <a:prstGeom prst="rect">
            <a:avLst/>
          </a:prstGeom>
        </p:spPr>
        <p:txBody>
          <a:bodyPr anchor="t" rtlCol="false" tIns="0" lIns="0" bIns="0" rIns="0">
            <a:spAutoFit/>
          </a:bodyPr>
          <a:lstStyle/>
          <a:p>
            <a:pPr algn="l">
              <a:lnSpc>
                <a:spcPts val="3919"/>
              </a:lnSpc>
            </a:pPr>
            <a:r>
              <a:rPr lang="en-US" sz="2799">
                <a:solidFill>
                  <a:srgbClr val="FFFFFF"/>
                </a:solidFill>
                <a:latin typeface="Poppins"/>
                <a:ea typeface="Poppins"/>
                <a:cs typeface="Poppins"/>
                <a:sym typeface="Poppins"/>
              </a:rPr>
              <a:t>Mengingat data kami memiliki lima dimensi, kami menggunakan teknik Principal Component Analysis (PCA) untuk menyederhanakan data tersebut ke dalam bidang 2D agar dapat divisualisasikan. Melalui grafik sebaran ini, kita dapat</a:t>
            </a:r>
            <a:r>
              <a:rPr lang="en-US" sz="2799">
                <a:solidFill>
                  <a:srgbClr val="FFFFFF"/>
                </a:solidFill>
                <a:latin typeface="Poppins"/>
                <a:ea typeface="Poppins"/>
                <a:cs typeface="Poppins"/>
                <a:sym typeface="Poppins"/>
              </a:rPr>
              <a:t> melihat bagaimana UMKM di Sumedang saling berkelompok. Klaster Mikro Pemula terkonsentrasi di satu area besar, sementara unit usaha yang lebih mapan mulai menyebar ke area yang berbeda, menunjukkan karakteristik yang lebih unggul secara finansial maupun aset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7619B"/>
        </a:solidFill>
      </p:bgPr>
    </p:bg>
    <p:spTree>
      <p:nvGrpSpPr>
        <p:cNvPr id="1" name=""/>
        <p:cNvGrpSpPr/>
        <p:nvPr/>
      </p:nvGrpSpPr>
      <p:grpSpPr>
        <a:xfrm>
          <a:off x="0" y="0"/>
          <a:ext cx="0" cy="0"/>
          <a:chOff x="0" y="0"/>
          <a:chExt cx="0" cy="0"/>
        </a:xfrm>
      </p:grpSpPr>
      <p:grpSp>
        <p:nvGrpSpPr>
          <p:cNvPr name="Group 2" id="2"/>
          <p:cNvGrpSpPr/>
          <p:nvPr/>
        </p:nvGrpSpPr>
        <p:grpSpPr>
          <a:xfrm rot="-2491699">
            <a:off x="15963263" y="-462375"/>
            <a:ext cx="4186784" cy="4143724"/>
            <a:chOff x="0" y="0"/>
            <a:chExt cx="812800" cy="804441"/>
          </a:xfrm>
        </p:grpSpPr>
        <p:sp>
          <p:nvSpPr>
            <p:cNvPr name="Freeform 3" id="3"/>
            <p:cNvSpPr/>
            <p:nvPr/>
          </p:nvSpPr>
          <p:spPr>
            <a:xfrm flipH="false" flipV="false" rot="0">
              <a:off x="0" y="0"/>
              <a:ext cx="812800" cy="804441"/>
            </a:xfrm>
            <a:custGeom>
              <a:avLst/>
              <a:gdLst/>
              <a:ahLst/>
              <a:cxnLst/>
              <a:rect r="r" b="b" t="t" l="l"/>
              <a:pathLst>
                <a:path h="804441" w="812800">
                  <a:moveTo>
                    <a:pt x="406400" y="0"/>
                  </a:moveTo>
                  <a:cubicBezTo>
                    <a:pt x="181951" y="0"/>
                    <a:pt x="0" y="180080"/>
                    <a:pt x="0" y="402220"/>
                  </a:cubicBezTo>
                  <a:cubicBezTo>
                    <a:pt x="0" y="624360"/>
                    <a:pt x="181951" y="804441"/>
                    <a:pt x="406400" y="804441"/>
                  </a:cubicBezTo>
                  <a:cubicBezTo>
                    <a:pt x="630849" y="804441"/>
                    <a:pt x="812800" y="624360"/>
                    <a:pt x="812800" y="402220"/>
                  </a:cubicBezTo>
                  <a:cubicBezTo>
                    <a:pt x="812800" y="180080"/>
                    <a:pt x="630849" y="0"/>
                    <a:pt x="406400" y="0"/>
                  </a:cubicBezTo>
                  <a:close/>
                </a:path>
              </a:pathLst>
            </a:custGeom>
            <a:ln w="666750" cap="sq">
              <a:solidFill>
                <a:srgbClr val="FFFFFF"/>
              </a:solidFill>
              <a:prstDash val="solid"/>
              <a:miter/>
            </a:ln>
          </p:spPr>
        </p:sp>
        <p:sp>
          <p:nvSpPr>
            <p:cNvPr name="TextBox 4" id="4"/>
            <p:cNvSpPr txBox="true"/>
            <p:nvPr/>
          </p:nvSpPr>
          <p:spPr>
            <a:xfrm>
              <a:off x="76200" y="18266"/>
              <a:ext cx="660400" cy="71075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950713" y="1809962"/>
            <a:ext cx="8541740" cy="4145808"/>
          </a:xfrm>
          <a:custGeom>
            <a:avLst/>
            <a:gdLst/>
            <a:ahLst/>
            <a:cxnLst/>
            <a:rect r="r" b="b" t="t" l="l"/>
            <a:pathLst>
              <a:path h="4145808" w="8541740">
                <a:moveTo>
                  <a:pt x="0" y="0"/>
                </a:moveTo>
                <a:lnTo>
                  <a:pt x="8541740" y="0"/>
                </a:lnTo>
                <a:lnTo>
                  <a:pt x="8541740" y="4145808"/>
                </a:lnTo>
                <a:lnTo>
                  <a:pt x="0" y="4145808"/>
                </a:lnTo>
                <a:lnTo>
                  <a:pt x="0" y="0"/>
                </a:lnTo>
                <a:close/>
              </a:path>
            </a:pathLst>
          </a:custGeom>
          <a:blipFill>
            <a:blip r:embed="rId2"/>
            <a:stretch>
              <a:fillRect l="0" t="0" r="0" b="0"/>
            </a:stretch>
          </a:blipFill>
        </p:spPr>
      </p:sp>
      <p:sp>
        <p:nvSpPr>
          <p:cNvPr name="TextBox 6" id="6"/>
          <p:cNvSpPr txBox="true"/>
          <p:nvPr/>
        </p:nvSpPr>
        <p:spPr>
          <a:xfrm rot="0">
            <a:off x="2949621" y="677862"/>
            <a:ext cx="15107034" cy="730250"/>
          </a:xfrm>
          <a:prstGeom prst="rect">
            <a:avLst/>
          </a:prstGeom>
        </p:spPr>
        <p:txBody>
          <a:bodyPr anchor="t" rtlCol="false" tIns="0" lIns="0" bIns="0" rIns="0">
            <a:spAutoFit/>
          </a:bodyPr>
          <a:lstStyle/>
          <a:p>
            <a:pPr algn="l">
              <a:lnSpc>
                <a:spcPts val="5650"/>
              </a:lnSpc>
            </a:pPr>
            <a:r>
              <a:rPr lang="en-US" sz="5000">
                <a:solidFill>
                  <a:srgbClr val="FFFFFF"/>
                </a:solidFill>
                <a:latin typeface="League Spartan"/>
                <a:ea typeface="League Spartan"/>
                <a:cs typeface="League Spartan"/>
                <a:sym typeface="League Spartan"/>
              </a:rPr>
              <a:t>PROFIL 4 K</a:t>
            </a:r>
            <a:r>
              <a:rPr lang="en-US" sz="5000">
                <a:solidFill>
                  <a:srgbClr val="FFFFFF"/>
                </a:solidFill>
                <a:latin typeface="League Spartan"/>
                <a:ea typeface="League Spartan"/>
                <a:cs typeface="League Spartan"/>
                <a:sym typeface="League Spartan"/>
              </a:rPr>
              <a:t>LASTER STRATEGIS UMKM</a:t>
            </a:r>
          </a:p>
        </p:txBody>
      </p:sp>
      <p:sp>
        <p:nvSpPr>
          <p:cNvPr name="TextBox 7" id="7"/>
          <p:cNvSpPr txBox="true"/>
          <p:nvPr/>
        </p:nvSpPr>
        <p:spPr>
          <a:xfrm rot="0">
            <a:off x="1255973" y="6289145"/>
            <a:ext cx="16385767" cy="3508375"/>
          </a:xfrm>
          <a:prstGeom prst="rect">
            <a:avLst/>
          </a:prstGeom>
        </p:spPr>
        <p:txBody>
          <a:bodyPr anchor="t" rtlCol="false" tIns="0" lIns="0" bIns="0" rIns="0">
            <a:spAutoFit/>
          </a:bodyPr>
          <a:lstStyle/>
          <a:p>
            <a:pPr algn="l">
              <a:lnSpc>
                <a:spcPts val="3499"/>
              </a:lnSpc>
            </a:pPr>
            <a:r>
              <a:rPr lang="en-US" sz="2499">
                <a:solidFill>
                  <a:srgbClr val="FFFFFF"/>
                </a:solidFill>
                <a:latin typeface="Poppins"/>
                <a:ea typeface="Poppins"/>
                <a:cs typeface="Poppins"/>
                <a:sym typeface="Poppins"/>
              </a:rPr>
              <a:t>Hasil segmentasi ini memberikan dasar bagi kebijakan pemerintah yang lebih presisi:</a:t>
            </a:r>
          </a:p>
          <a:p>
            <a:pPr algn="l" marL="539749" indent="-269875" lvl="1">
              <a:lnSpc>
                <a:spcPts val="3499"/>
              </a:lnSpc>
              <a:buAutoNum type="arabicPeriod" startAt="1"/>
            </a:pPr>
            <a:r>
              <a:rPr lang="en-US" sz="2499">
                <a:solidFill>
                  <a:srgbClr val="FFFFFF"/>
                </a:solidFill>
                <a:latin typeface="Poppins"/>
                <a:ea typeface="Poppins"/>
                <a:cs typeface="Poppins"/>
                <a:sym typeface="Poppins"/>
              </a:rPr>
              <a:t>Dukungan Mikro (Klaster A): Fokus pada literasi keuangan, manajemen dasar, dan kemudahan akses KUR.</a:t>
            </a:r>
          </a:p>
          <a:p>
            <a:pPr algn="l" marL="539749" indent="-269875" lvl="1">
              <a:lnSpc>
                <a:spcPts val="3499"/>
              </a:lnSpc>
              <a:buAutoNum type="arabicPeriod" startAt="1"/>
            </a:pPr>
            <a:r>
              <a:rPr lang="en-US" sz="2499">
                <a:solidFill>
                  <a:srgbClr val="FFFFFF"/>
                </a:solidFill>
                <a:latin typeface="Poppins"/>
                <a:ea typeface="Poppins"/>
                <a:cs typeface="Poppins"/>
                <a:sym typeface="Poppins"/>
              </a:rPr>
              <a:t>Inkubasi Bisnis (Klaster</a:t>
            </a:r>
            <a:r>
              <a:rPr lang="en-US" sz="2499">
                <a:solidFill>
                  <a:srgbClr val="FFFFFF"/>
                </a:solidFill>
                <a:latin typeface="Poppins"/>
                <a:ea typeface="Poppins"/>
                <a:cs typeface="Poppins"/>
                <a:sym typeface="Poppins"/>
              </a:rPr>
              <a:t> C): Pelatihan digitalisasi pemasaran dan optimalisasi proses produksi.</a:t>
            </a:r>
          </a:p>
          <a:p>
            <a:pPr algn="l" marL="539749" indent="-269875" lvl="1">
              <a:lnSpc>
                <a:spcPts val="3499"/>
              </a:lnSpc>
              <a:buAutoNum type="arabicPeriod" startAt="1"/>
            </a:pPr>
            <a:r>
              <a:rPr lang="en-US" sz="2499">
                <a:solidFill>
                  <a:srgbClr val="FFFFFF"/>
                </a:solidFill>
                <a:latin typeface="Poppins"/>
                <a:ea typeface="Poppins"/>
                <a:cs typeface="Poppins"/>
                <a:sym typeface="Poppins"/>
              </a:rPr>
              <a:t>Akses Global (Klaster B &amp; D): Fasilitasi sertifikasi ekspor, standarisasi mutu (SNI/Halal), dan kemitraan strategis dengan perusahaan besar. Strategi ini memastikan alokasi sumber daya pemerintah menjadi lebih efektif dan efisien</a:t>
            </a:r>
          </a:p>
          <a:p>
            <a:pPr algn="l">
              <a:lnSpc>
                <a:spcPts val="349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7619B"/>
        </a:solidFill>
      </p:bgPr>
    </p:bg>
    <p:spTree>
      <p:nvGrpSpPr>
        <p:cNvPr id="1" name=""/>
        <p:cNvGrpSpPr/>
        <p:nvPr/>
      </p:nvGrpSpPr>
      <p:grpSpPr>
        <a:xfrm>
          <a:off x="0" y="0"/>
          <a:ext cx="0" cy="0"/>
          <a:chOff x="0" y="0"/>
          <a:chExt cx="0" cy="0"/>
        </a:xfrm>
      </p:grpSpPr>
      <p:sp>
        <p:nvSpPr>
          <p:cNvPr name="Freeform 2" id="2"/>
          <p:cNvSpPr/>
          <p:nvPr/>
        </p:nvSpPr>
        <p:spPr>
          <a:xfrm flipH="true" flipV="true" rot="0">
            <a:off x="0" y="0"/>
            <a:ext cx="3934056" cy="4114800"/>
          </a:xfrm>
          <a:custGeom>
            <a:avLst/>
            <a:gdLst/>
            <a:ahLst/>
            <a:cxnLst/>
            <a:rect r="r" b="b" t="t" l="l"/>
            <a:pathLst>
              <a:path h="4114800" w="3934056">
                <a:moveTo>
                  <a:pt x="3934056" y="4114800"/>
                </a:moveTo>
                <a:lnTo>
                  <a:pt x="0" y="4114800"/>
                </a:lnTo>
                <a:lnTo>
                  <a:pt x="0" y="0"/>
                </a:lnTo>
                <a:lnTo>
                  <a:pt x="3934056" y="0"/>
                </a:lnTo>
                <a:lnTo>
                  <a:pt x="3934056"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60206" y="8700453"/>
            <a:ext cx="2761933" cy="276193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9485546"/>
            <a:ext cx="2534687" cy="253468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FFFFFF"/>
              </a:solidFill>
              <a:prstDash val="solid"/>
              <a:miter/>
            </a:ln>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5271134" y="1497965"/>
            <a:ext cx="7291185" cy="1166495"/>
          </a:xfrm>
          <a:prstGeom prst="rect">
            <a:avLst/>
          </a:prstGeom>
        </p:spPr>
        <p:txBody>
          <a:bodyPr anchor="t" rtlCol="false" tIns="0" lIns="0" bIns="0" rIns="0">
            <a:spAutoFit/>
          </a:bodyPr>
          <a:lstStyle/>
          <a:p>
            <a:pPr algn="l">
              <a:lnSpc>
                <a:spcPts val="9040"/>
              </a:lnSpc>
            </a:pPr>
            <a:r>
              <a:rPr lang="en-US" sz="8000">
                <a:solidFill>
                  <a:srgbClr val="FFFFFF"/>
                </a:solidFill>
                <a:latin typeface="League Spartan"/>
                <a:ea typeface="League Spartan"/>
                <a:cs typeface="League Spartan"/>
                <a:sym typeface="League Spartan"/>
              </a:rPr>
              <a:t>KESIMPULAN</a:t>
            </a:r>
          </a:p>
        </p:txBody>
      </p:sp>
      <p:sp>
        <p:nvSpPr>
          <p:cNvPr name="TextBox 10" id="10"/>
          <p:cNvSpPr txBox="true"/>
          <p:nvPr/>
        </p:nvSpPr>
        <p:spPr>
          <a:xfrm rot="0">
            <a:off x="1801727" y="2986246"/>
            <a:ext cx="15754032" cy="5278120"/>
          </a:xfrm>
          <a:prstGeom prst="rect">
            <a:avLst/>
          </a:prstGeom>
        </p:spPr>
        <p:txBody>
          <a:bodyPr anchor="t" rtlCol="false" tIns="0" lIns="0" bIns="0" rIns="0">
            <a:spAutoFit/>
          </a:bodyPr>
          <a:lstStyle/>
          <a:p>
            <a:pPr algn="l">
              <a:lnSpc>
                <a:spcPts val="5179"/>
              </a:lnSpc>
            </a:pPr>
            <a:r>
              <a:rPr lang="en-US" sz="3699">
                <a:solidFill>
                  <a:srgbClr val="FFFFFF"/>
                </a:solidFill>
                <a:latin typeface="Poppins"/>
                <a:ea typeface="Poppins"/>
                <a:cs typeface="Poppins"/>
                <a:sym typeface="Poppins"/>
              </a:rPr>
              <a:t>Penelitian ini membuktikan bahwa penggunaan algoritma K-Means mampu memberikan pemetaan yang mendalam terhadap ekosistem UMKM di Sumedang. Dengan Silhouette Score 0.4795, model ini cukup valid untuk digunakan sebagai referensi pengambilan keputusan. Ke depannya, integrasi data real-time akan sangat membantu Dinas Koperasi dan UMKM dalam</a:t>
            </a:r>
            <a:r>
              <a:rPr lang="en-US" sz="3699">
                <a:solidFill>
                  <a:srgbClr val="FFFFFF"/>
                </a:solidFill>
                <a:latin typeface="Poppins"/>
                <a:ea typeface="Poppins"/>
                <a:cs typeface="Poppins"/>
                <a:sym typeface="Poppins"/>
              </a:rPr>
              <a:t> memantau perkembangan setiap klaster secara dinamis guna mempercepat pertumbuhan ekonomi daerah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7619B"/>
        </a:solidFill>
      </p:bgPr>
    </p:bg>
    <p:spTree>
      <p:nvGrpSpPr>
        <p:cNvPr id="1" name=""/>
        <p:cNvGrpSpPr/>
        <p:nvPr/>
      </p:nvGrpSpPr>
      <p:grpSpPr>
        <a:xfrm>
          <a:off x="0" y="0"/>
          <a:ext cx="0" cy="0"/>
          <a:chOff x="0" y="0"/>
          <a:chExt cx="0" cy="0"/>
        </a:xfrm>
      </p:grpSpPr>
      <p:grpSp>
        <p:nvGrpSpPr>
          <p:cNvPr name="Group 2" id="2"/>
          <p:cNvGrpSpPr/>
          <p:nvPr/>
        </p:nvGrpSpPr>
        <p:grpSpPr>
          <a:xfrm rot="0">
            <a:off x="-1651907" y="-1983921"/>
            <a:ext cx="6882493" cy="688249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69"/>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818054" y="6044293"/>
            <a:ext cx="6882493" cy="688249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369"/>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501548" y="-1501548"/>
            <a:ext cx="5414282" cy="541428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42950" cap="sq">
              <a:solidFill>
                <a:srgbClr val="FFFFFF"/>
              </a:solidFill>
              <a:prstDash val="solid"/>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729052" y="7198179"/>
            <a:ext cx="5060496" cy="506049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14375" cap="sq">
              <a:solidFill>
                <a:srgbClr val="FFFFFF"/>
              </a:solidFill>
              <a:prstDash val="solid"/>
              <a:miter/>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4357995" y="3063721"/>
            <a:ext cx="9572010" cy="4088108"/>
          </a:xfrm>
          <a:prstGeom prst="rect">
            <a:avLst/>
          </a:prstGeom>
        </p:spPr>
        <p:txBody>
          <a:bodyPr anchor="t" rtlCol="false" tIns="0" lIns="0" bIns="0" rIns="0">
            <a:spAutoFit/>
          </a:bodyPr>
          <a:lstStyle/>
          <a:p>
            <a:pPr algn="ctr">
              <a:lnSpc>
                <a:spcPts val="15978"/>
              </a:lnSpc>
            </a:pPr>
            <a:r>
              <a:rPr lang="en-US" sz="14140">
                <a:solidFill>
                  <a:srgbClr val="FFFFFF"/>
                </a:solidFill>
                <a:latin typeface="League Spartan"/>
                <a:ea typeface="League Spartan"/>
                <a:cs typeface="League Spartan"/>
                <a:sym typeface="League Spartan"/>
              </a:rPr>
              <a:t>THANK</a:t>
            </a:r>
          </a:p>
          <a:p>
            <a:pPr algn="ctr">
              <a:lnSpc>
                <a:spcPts val="15978"/>
              </a:lnSpc>
            </a:pPr>
            <a:r>
              <a:rPr lang="en-US" sz="14140">
                <a:solidFill>
                  <a:srgbClr val="FFFFFF"/>
                </a:solidFill>
                <a:latin typeface="League Spartan"/>
                <a:ea typeface="League Spartan"/>
                <a:cs typeface="League Spartan"/>
                <a:sym typeface="League Spartan"/>
              </a:rPr>
              <a:t>YOU</a:t>
            </a:r>
          </a:p>
        </p:txBody>
      </p:sp>
      <p:sp>
        <p:nvSpPr>
          <p:cNvPr name="Freeform 15" id="15"/>
          <p:cNvSpPr/>
          <p:nvPr/>
        </p:nvSpPr>
        <p:spPr>
          <a:xfrm flipH="false" flipV="false" rot="0">
            <a:off x="14978743"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851807" y="715182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DAHJc3_0Dxc</dc:identifier>
  <dcterms:modified xsi:type="dcterms:W3CDTF">2011-08-01T06:04:30Z</dcterms:modified>
  <cp:revision>1</cp:revision>
  <dc:title>Blue and White Modern Sales Report Presentation</dc:title>
</cp:coreProperties>
</file>